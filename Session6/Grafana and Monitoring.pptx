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17"/>
  </p:notesMasterIdLst>
  <p:handoutMasterIdLst>
    <p:handoutMasterId r:id="rId18"/>
  </p:handoutMasterIdLst>
  <p:sldIdLst>
    <p:sldId id="2147479816" r:id="rId5"/>
    <p:sldId id="2147479799" r:id="rId6"/>
    <p:sldId id="2147479822" r:id="rId7"/>
    <p:sldId id="2147479800" r:id="rId8"/>
    <p:sldId id="2147479830" r:id="rId9"/>
    <p:sldId id="2147479821" r:id="rId10"/>
    <p:sldId id="2147479835" r:id="rId11"/>
    <p:sldId id="2147479831" r:id="rId12"/>
    <p:sldId id="2147479832" r:id="rId13"/>
    <p:sldId id="2147479833" r:id="rId14"/>
    <p:sldId id="2147479834" r:id="rId15"/>
    <p:sldId id="2147479754" r:id="rId16"/>
  </p:sldIdLst>
  <p:sldSz cx="12192000" cy="6858000"/>
  <p:notesSz cx="7010400" cy="9296400"/>
  <p:embeddedFontLst>
    <p:embeddedFont>
      <p:font typeface="Barlow" panose="00000500000000000000" pitchFamily="2" charset="0"/>
      <p:regular r:id="rId19"/>
      <p:bold r:id="rId20"/>
      <p:italic r:id="rId21"/>
      <p:boldItalic r:id="rId22"/>
    </p:embeddedFont>
    <p:embeddedFont>
      <p:font typeface="Barlow Medium" panose="00000600000000000000" pitchFamily="2" charset="0"/>
      <p:regular r:id="rId23"/>
      <p:italic r:id="rId24"/>
    </p:embeddedFont>
    <p:embeddedFont>
      <p:font typeface="Barlow SemiBold" panose="00000700000000000000" pitchFamily="2" charset="0"/>
      <p:regular r:id="rId25"/>
      <p:bold r:id="rId26"/>
      <p:italic r:id="rId27"/>
      <p:boldItalic r:id="rId28"/>
    </p:embeddedFont>
    <p:embeddedFont>
      <p:font typeface="Wingdings 3" panose="05040102010807070707" pitchFamily="18" charset="2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DC9343AB-3633-0040-8C20-EE436A4C326C}">
          <p14:sldIdLst>
            <p14:sldId id="2147479816"/>
          </p14:sldIdLst>
        </p14:section>
        <p14:section name="Presentation Slides" id="{946C8B3A-61C4-AF40-8103-203EBE56DE26}">
          <p14:sldIdLst>
            <p14:sldId id="2147479799"/>
            <p14:sldId id="2147479822"/>
            <p14:sldId id="2147479800"/>
            <p14:sldId id="2147479830"/>
            <p14:sldId id="2147479821"/>
            <p14:sldId id="2147479835"/>
            <p14:sldId id="2147479831"/>
            <p14:sldId id="2147479832"/>
            <p14:sldId id="2147479833"/>
            <p14:sldId id="2147479834"/>
            <p14:sldId id="21474797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B64D-9294-73B9-698D-53AC9DE94753}" name="Gildred, Terrence" initials="TG" userId="S::Terrence.Gildred@analog.com::41e59cfa-3130-4dc8-bb17-32cbb5d94a2b" providerId="AD"/>
  <p188:author id="{9F151DE2-766A-42B1-0845-564F1EFC92C8}" name="Corley, Chuck" initials="CC" userId="S::Chuck.Corley@analog.com::9b82cf21-72de-4287-943d-2b8797d81e32" providerId="AD"/>
  <p188:author id="{B32441EB-C32A-3CA3-B2FD-35A7E093F3DD}" name="Shaw, Shelly" initials="SS" userId="S::shelly.shaw@analog.com::fffc5d37-691b-410b-b340-04c3784de4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F"/>
    <a:srgbClr val="D8D9DF"/>
    <a:srgbClr val="6DE9EC"/>
    <a:srgbClr val="6DE1EC"/>
    <a:srgbClr val="F0F0F2"/>
    <a:srgbClr val="E2E3E6"/>
    <a:srgbClr val="D9D9DE"/>
    <a:srgbClr val="9EA1AE"/>
    <a:srgbClr val="D9E1E4"/>
    <a:srgbClr val="E7ECE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63" autoAdjust="0"/>
    <p:restoredTop sz="96327" autoAdjust="0"/>
  </p:normalViewPr>
  <p:slideViewPr>
    <p:cSldViewPr snapToGrid="0" snapToObjects="1">
      <p:cViewPr varScale="1">
        <p:scale>
          <a:sx n="74" d="100"/>
          <a:sy n="74" d="100"/>
        </p:scale>
        <p:origin x="732" y="56"/>
      </p:cViewPr>
      <p:guideLst/>
    </p:cSldViewPr>
  </p:slideViewPr>
  <p:outlineViewPr>
    <p:cViewPr>
      <p:scale>
        <a:sx n="33" d="100"/>
        <a:sy n="33" d="100"/>
      </p:scale>
      <p:origin x="0" y="1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1" d="100"/>
          <a:sy n="111" d="100"/>
        </p:scale>
        <p:origin x="328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597444" y="8829967"/>
            <a:ext cx="411333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200"/>
            </a:lvl1pPr>
          </a:lstStyle>
          <a:p>
            <a:fld id="{013FF889-DBB5-E540-8E75-47BFCA628842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Barlow" pitchFamily="2" charset="77"/>
                <a:cs typeface="Arial" panose="020B0604020202020204" pitchFamily="34" charset="0"/>
              </a:rPr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7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4C274-FC20-274E-ABAE-1B6BD23BAF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C9AD1-494E-6A4E-8F5F-425D5063F09E}" type="datetimeFigureOut">
              <a:rPr lang="en-US" smtClean="0"/>
              <a:t>5/6/2026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34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14897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000" b="0" i="0"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9360" y="8829967"/>
            <a:ext cx="699418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fld id="{900B8651-D313-4300-801F-8365670269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 b="0" i="0">
                <a:latin typeface="Barlow" pitchFamily="2" charset="77"/>
              </a:defRPr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 b="0" i="0">
                <a:latin typeface="Barlow" pitchFamily="2" charset="77"/>
              </a:defRPr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pPr/>
              <a:t>5/6/2026</a:t>
            </a:fld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3899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Clr>
        <a:schemeClr val="tx2"/>
      </a:buClr>
      <a:buSzPct val="75000"/>
      <a:buFont typeface="Wingdings 3" panose="05040102010807070707" pitchFamily="18" charset="2"/>
      <a:buChar char="u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1pPr>
    <a:lvl2pPr marL="344488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2pPr>
    <a:lvl3pPr marL="5111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3pPr>
    <a:lvl4pPr marL="6889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4pPr>
    <a:lvl5pPr marL="855663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78CF-F255-5865-056D-7C5B3FCE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8A47D-AD48-E5F6-63D9-696478D9A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814388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8AAA8-7A8F-F34F-7E6F-36303699D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51C9-5048-6440-AA44-469EBDFE1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B8651-D313-4300-801F-83656702695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641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4C7C-DB51-A1C1-3A67-6BE5A5E5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6214F-03D5-F486-E64E-B7A8D6C7F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814388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98F49-1CD4-9180-75AD-67959806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C8742-79BE-6857-8516-64D3D4392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B8651-D313-4300-801F-83656702695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61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FED6-E972-B3E2-BB15-C01870E0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FAE90-29B9-0DFA-F98E-9FB181629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814388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88F8E-05DA-17C3-CB80-A2644D1D2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FDD25-E7ED-9746-8078-E652DF73C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B8651-D313-4300-801F-83656702695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16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D208-F33B-4B3E-BEDC-71B5F8F3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1E045-6A5D-8D31-020C-1A77CC9DA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814388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90168-8AB8-E8E7-AB7F-40635BA27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62027-0218-44E7-C25E-6847A1DBC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B8651-D313-4300-801F-83656702695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27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svg"/><Relationship Id="rId4" Type="http://schemas.openxmlformats.org/officeDocument/2006/relationships/hyperlink" Target="https://www.analog.com/en/index.html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en/index.html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3.svg"/><Relationship Id="rId4" Type="http://schemas.openxmlformats.org/officeDocument/2006/relationships/hyperlink" Target="https://www.analog.com/en/index.html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45A94-3CF9-DE40-192E-900232841E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A71F52-3503-B96C-9247-6161E2C3DC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3B89A1-CA1A-58B5-ACA8-74366DA0AF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1235363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F5266-55C9-0BE1-E63F-2CD32DA02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34EDB31-305D-ABD5-A5B5-5A901432FC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40DCC2-6B3F-66D3-DF6F-1CAFC8AB6C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EC33F89-D1AD-97BD-9796-653C4E7471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50467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75A93E-07A2-EBD4-1717-2BC5B458C0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 sz="1600"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 sz="1400"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/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B830200-494D-376F-25FC-62708EAC8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D4A03-9143-BC58-1681-1225AE4D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orking in a factory&#10;&#10;Description automatically generated">
            <a:extLst>
              <a:ext uri="{FF2B5EF4-FFF2-40B4-BE49-F238E27FC236}">
                <a16:creationId xmlns:a16="http://schemas.microsoft.com/office/drawing/2014/main" id="{5279C31A-3F31-E41C-E7A3-501624556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80CC74-0812-43C2-2A04-E80B64FF4663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2F3DE54-34B6-3AF3-6CD6-3EEEE3D9CB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238CC0-96D0-F452-54CA-4E0E61680C7C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5E685E6-13CB-D38D-FEA2-77D90875D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4264545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AD60E70-32AD-72EE-B1DB-7DDA206A7E59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9A5004D-7C58-27D4-EB7C-CAEEB8F6A5B8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AB5AFC3-5343-064B-A219-1AE7209A8C04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C18DD37-D9CA-886C-4E16-79E064AA6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53266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0F7495-C78C-5BD8-12F5-D3FE1407E0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E58A3-0A5D-732B-0055-E391B11ABC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4293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D0724DB-44AA-8EF1-D24E-EE31252C8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2D86F02-FD9E-9CA8-C43A-A87AC3AF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941DD9-5289-8381-97D8-48A472D3D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A88B1579-377C-8586-6E52-6B200302C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53026E-B5C4-FD0A-19D4-0B5461FD6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1A507F-49ED-2628-38B9-7F81817B7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 Header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43F822-F879-A359-A0CB-E4E9D060DA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7100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36D999-58A8-2BE5-FFFE-3347C537C4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599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17CAD3-45BB-FDDB-D008-5419EA5DB3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14CBD0C-A49D-E688-875B-662AD4E5C92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01565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5B95C7BD-0ECF-E8E8-0AA1-669DC702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ED327D0-C0CF-65BA-41BD-4DD376DF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B0F791-FCAD-93C1-469A-FF5C94923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D6FD505D-77D2-F2AA-38CA-7D137C31B2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22066" y="1050828"/>
            <a:ext cx="5958000" cy="539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Barlow"/>
              <a:buNone/>
              <a:tabLst/>
              <a:defRPr sz="2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DFE071F-83A9-FEE7-214E-2FCD9E1F5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98" y="640080"/>
            <a:ext cx="5040000" cy="1270000"/>
          </a:xfrm>
        </p:spPr>
        <p:txBody>
          <a:bodyPr anchor="t"/>
          <a:lstStyle>
            <a:lvl1pPr algn="l">
              <a:defRPr sz="3200" spc="0" baseline="0"/>
            </a:lvl1pPr>
          </a:lstStyle>
          <a:p>
            <a:r>
              <a:rPr lang="en-GB" dirty="0"/>
              <a:t>Click to Add Title in Barlow Medium 32 pt. Max Three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0673C-A7DF-F8F0-75F9-2DE7661FFE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1" y="2191109"/>
            <a:ext cx="5040000" cy="4256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47974C77-A9A2-9C5D-4B14-33988A2D7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B890-9F88-CA9F-C400-1C66AD3B0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3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–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8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E1006A-6F73-6CC5-9A6B-003C025FE1E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299113" y="1611369"/>
            <a:ext cx="5473925" cy="4752217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39600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B4FFC0-576B-550B-4CBA-830C438E3C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400" y="1611369"/>
            <a:ext cx="5473925" cy="4752217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39600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42180F3-8D99-D80C-3C16-210296F935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425" y="1424722"/>
            <a:ext cx="4320000" cy="360000"/>
          </a:xfrm>
          <a:prstGeom prst="round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29CD75-8F30-B30C-E480-81A1F57798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25" y="1424722"/>
            <a:ext cx="4320000" cy="360000"/>
          </a:xfrm>
          <a:prstGeom prst="round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2DA376E-BE10-B3A0-DBE8-9E5D6C7A2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558F40-9DA9-CB95-74DD-933171C6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AF5B83E-6C3A-101F-034F-589F15E85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0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C34F2-A2E5-C931-892C-CE8C345AC0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25E0C486-E304-0B39-E7CF-15E096E1F3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85BC1DD9-AC3F-0292-BB41-73EB158CE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48B6C0D-5EBB-8307-1013-31292E06E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D195A7E-0C05-1F56-0D38-D979AC053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B10E12-5D30-25F8-D19C-B3E68E6B38A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02ACB762-6130-5103-7F8E-B720747466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7" name="Legal Statement">
            <a:extLst>
              <a:ext uri="{FF2B5EF4-FFF2-40B4-BE49-F238E27FC236}">
                <a16:creationId xmlns:a16="http://schemas.microsoft.com/office/drawing/2014/main" id="{D55D98FE-1E49-E649-CF80-534ECD170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2A745CB-3967-AEA6-EDEB-05D34A1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3320B93-2F90-58F6-9BE3-C21659D08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Line 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E01E07D0-B84C-94C2-609C-807354D42E5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8" name="Legal Statement">
            <a:extLst>
              <a:ext uri="{FF2B5EF4-FFF2-40B4-BE49-F238E27FC236}">
                <a16:creationId xmlns:a16="http://schemas.microsoft.com/office/drawing/2014/main" id="{0F823DA7-FF9A-EFC6-F2C2-DE776C90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8E4D307-C8C1-6C95-AFDC-759E6C2C3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8853D40-8423-5943-1966-67876C31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Sub Hea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BC3E0B30-4B1F-2597-A54A-ACEF55669A7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9" name="Legal Statement">
            <a:extLst>
              <a:ext uri="{FF2B5EF4-FFF2-40B4-BE49-F238E27FC236}">
                <a16:creationId xmlns:a16="http://schemas.microsoft.com/office/drawing/2014/main" id="{F2D7AFB9-BB35-6BAD-4F95-1B4AAFD93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B882CF-0122-EBC9-F9BA-92246F1A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51E19C9-C3B9-95F2-8631-F77DC38B4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8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7D0926-3432-9767-B62F-356355C72801}"/>
              </a:ext>
            </a:extLst>
          </p:cNvPr>
          <p:cNvSpPr/>
          <p:nvPr userDrawn="1"/>
        </p:nvSpPr>
        <p:spPr>
          <a:xfrm>
            <a:off x="0" y="2695074"/>
            <a:ext cx="12192000" cy="4162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57200"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70000"/>
            </a:pPr>
            <a:endParaRPr lang="en-US" dirty="0">
              <a:solidFill>
                <a:srgbClr val="000000"/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69951A4-1AD3-A43C-C0FA-206FB4E657C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638800" y="125170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289852-70F1-F42E-1E63-613E2DAE0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00" y="2207967"/>
            <a:ext cx="6829596" cy="183127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A9F86B4-824B-44DC-9606-E1B953C49E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6998" y="2418038"/>
            <a:ext cx="6829597" cy="15260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Enter Title Across One Line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4D648701-E0D4-F459-51EF-4B4F2B1A3F9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8426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2D2988E-A812-22FF-DA6D-89824D7557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60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10F5B35-E695-3D97-91E9-74525E0879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608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B5505A30-F7BF-2A80-CF4F-DC82B7757FD7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3356272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9DE388AD-8068-7B82-4845-988319834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79616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0CE3BC8-180C-52E1-AF8E-E93244629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9616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A66B708-BC6D-11ED-866E-BA899BDFCD5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905539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070D149-5511-661D-2248-E549DF46A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28883" y="3812396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1353DFC-A442-ADF3-481B-ACFF248E86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8883" y="4022467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86826487-F2C1-3F44-5BA4-13A46BCA2A25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1018184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F965BEF7-6D32-9FC9-AF58-1738AF114A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518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0004F470-48DD-29AB-C8B8-E868160D06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05188" y="4020560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C3204260-FF56-EA5A-C294-0D1D22FE0BE8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5632577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D6D5EEAF-B0CF-D1C5-1B9C-5419FFA36C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55921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7C1D65D-CDD0-1C2C-8A8C-72BFA3D224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55921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CC6CA299-A523-2251-23EF-771F55BE128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108426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5DFA18AA-F368-3565-0ACB-0D9625D2E4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760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00169ABB-4341-687D-4DEC-A6A58BFA9FA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608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44F8E345-E274-A4FB-2B88-EDACE4AE4C33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356272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4F95D23-0C57-7BBB-D5B0-320615BA8F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79616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DCBC274C-0F2C-5F9C-9F0C-7A7332395B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79616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1" name="Picture Placeholder 6">
            <a:extLst>
              <a:ext uri="{FF2B5EF4-FFF2-40B4-BE49-F238E27FC236}">
                <a16:creationId xmlns:a16="http://schemas.microsoft.com/office/drawing/2014/main" id="{54CE9587-6C54-D011-6607-2A2E2ACEA84C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905539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C493F11E-B5FE-CBA1-7BAD-1A32E7FD56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28883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A31A7415-C8AE-8014-1304-CEA9950056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28883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45BC5C9C-55D1-0F5E-8670-CBF4AB9FB9A6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8184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BA302EF8-54CE-ECD1-533B-D6DF9FFC0CD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0518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6" name="Text Placeholder 8">
            <a:extLst>
              <a:ext uri="{FF2B5EF4-FFF2-40B4-BE49-F238E27FC236}">
                <a16:creationId xmlns:a16="http://schemas.microsoft.com/office/drawing/2014/main" id="{920988B0-5809-C2B5-EDED-86CDFE30986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05188" y="5804968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261BF2E2-641A-7C31-E2C0-6D6BFD64C7BB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5632577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4DAFA5E3-A4EC-D1CC-ACB3-95E586998D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55921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633DB6F-8049-E1EE-96AE-723ED3029A8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55921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3DDFAF-CEA6-D995-9D97-9CDECF6FEAC3}"/>
              </a:ext>
            </a:extLst>
          </p:cNvPr>
          <p:cNvSpPr txBox="1"/>
          <p:nvPr userDrawn="1"/>
        </p:nvSpPr>
        <p:spPr>
          <a:xfrm>
            <a:off x="4240443" y="127736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1050B6-525B-3A7B-AC73-4A4A2AD3668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89675" y="990000"/>
            <a:ext cx="5498289" cy="5456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449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Two Column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AC019C-E00B-1BBC-26AB-EE9B29FD79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7310" y="990001"/>
            <a:ext cx="5498289" cy="5468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A3767269-D440-03F9-BB78-6AB3B10BD9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3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F60630CF-4BC1-4126-BAD0-74F5C380BC6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05AAAEB-2168-EDFA-AE8A-1EB7C4DA25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101" y="985720"/>
            <a:ext cx="11353799" cy="5468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Statement/Quote, One Column,</a:t>
            </a:r>
            <a:br>
              <a:rPr lang="en-GB" dirty="0"/>
            </a:br>
            <a:r>
              <a:rPr lang="en-GB" dirty="0"/>
              <a:t>Barlow SemiBold, 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711B7826-C8B8-BDAD-0A12-46CAFB74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E77862-06B8-49B9-8840-9C5CBFE1F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44B91048-928D-46CA-F288-0674C5E34E11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12192000" cy="6853238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9525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the Icon to Add a Video</a:t>
            </a:r>
          </a:p>
        </p:txBody>
      </p:sp>
    </p:spTree>
    <p:extLst>
      <p:ext uri="{BB962C8B-B14F-4D97-AF65-F5344CB8AC3E}">
        <p14:creationId xmlns:p14="http://schemas.microsoft.com/office/powerpoint/2010/main" val="387220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Car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BD4353F-D62D-2F4C-3041-F34431E54F85}"/>
              </a:ext>
            </a:extLst>
          </p:cNvPr>
          <p:cNvSpPr txBox="1"/>
          <p:nvPr userDrawn="1"/>
        </p:nvSpPr>
        <p:spPr>
          <a:xfrm>
            <a:off x="0" y="2410889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sz="5000" b="0" i="0" spc="-100" baseline="0" dirty="0">
                <a:solidFill>
                  <a:schemeClr val="bg1"/>
                </a:solidFill>
                <a:latin typeface="Barlow Medium" pitchFamily="2" charset="77"/>
              </a:rPr>
              <a:t>AHEAD OF WHAT’S POSSIBLE</a:t>
            </a:r>
            <a:endParaRPr lang="en-US" sz="5000" b="0" i="0" spc="-100" baseline="25000" dirty="0">
              <a:solidFill>
                <a:schemeClr val="bg1"/>
              </a:solidFill>
              <a:latin typeface="Barlow Medium" pitchFamily="2" charset="77"/>
            </a:endParaRP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77A01333-E4A7-1F2C-0116-91DF7AC37E43}"/>
              </a:ext>
            </a:extLst>
          </p:cNvPr>
          <p:cNvSpPr txBox="1"/>
          <p:nvPr userDrawn="1"/>
        </p:nvSpPr>
        <p:spPr>
          <a:xfrm>
            <a:off x="5466000" y="3488780"/>
            <a:ext cx="1260000" cy="279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8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</a:t>
            </a:r>
            <a:r>
              <a:rPr lang="en-IE" sz="1800" b="0" i="0" u="none" spc="10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9611C-2544-31F0-337A-5ACA47B9BFEE}"/>
              </a:ext>
            </a:extLst>
          </p:cNvPr>
          <p:cNvSpPr txBox="1"/>
          <p:nvPr userDrawn="1"/>
        </p:nvSpPr>
        <p:spPr>
          <a:xfrm>
            <a:off x="0" y="6559905"/>
            <a:ext cx="12193200" cy="18466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en-IE" sz="600" b="0" i="0" dirty="0">
                <a:solidFill>
                  <a:schemeClr val="bg1"/>
                </a:solidFill>
                <a:latin typeface="Barlow" pitchFamily="2" charset="77"/>
              </a:rPr>
              <a:t>©2025 Analog Devices, Inc. All Rights Reserved. </a:t>
            </a:r>
          </a:p>
        </p:txBody>
      </p:sp>
      <p:pic>
        <p:nvPicPr>
          <p:cNvPr id="2" name="Graphic 1">
            <a:hlinkClick r:id="rId4"/>
            <a:extLst>
              <a:ext uri="{FF2B5EF4-FFF2-40B4-BE49-F238E27FC236}">
                <a16:creationId xmlns:a16="http://schemas.microsoft.com/office/drawing/2014/main" id="{541BB206-E2EC-4ECC-7367-C7B15913829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341" y="4864462"/>
            <a:ext cx="1852246" cy="5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35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171D4C-9683-BD15-3D7B-0F5C911F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le 5"/>
          <p:cNvSpPr>
            <a:spLocks noGrp="1"/>
          </p:cNvSpPr>
          <p:nvPr>
            <p:ph type="title"/>
          </p:nvPr>
        </p:nvSpPr>
        <p:spPr>
          <a:xfrm>
            <a:off x="417600" y="640080"/>
            <a:ext cx="10080000" cy="450000"/>
          </a:xfrm>
          <a:prstGeom prst="rect">
            <a:avLst/>
          </a:prstGeom>
          <a:noFill/>
        </p:spPr>
        <p:txBody>
          <a:bodyPr vert="horz" wrap="square" lIns="0" tIns="36576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Analog Logo">
            <a:extLst>
              <a:ext uri="{FF2B5EF4-FFF2-40B4-BE49-F238E27FC236}">
                <a16:creationId xmlns:a16="http://schemas.microsoft.com/office/drawing/2014/main" id="{C045C3B2-FF7D-A8D6-DE50-897DAAED8ED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911547" y="392097"/>
            <a:ext cx="869518" cy="2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egal Statement">
            <a:extLst>
              <a:ext uri="{FF2B5EF4-FFF2-40B4-BE49-F238E27FC236}">
                <a16:creationId xmlns:a16="http://schemas.microsoft.com/office/drawing/2014/main" id="{588B6EED-4863-B18E-517F-943471A95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C7B0831-6F35-A7A6-9972-3A008CCC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4" r:id="rId2"/>
    <p:sldLayoutId id="2147483678" r:id="rId3"/>
    <p:sldLayoutId id="2147483753" r:id="rId4"/>
    <p:sldLayoutId id="2147483768" r:id="rId5"/>
    <p:sldLayoutId id="2147483752" r:id="rId6"/>
    <p:sldLayoutId id="2147483709" r:id="rId7"/>
    <p:sldLayoutId id="2147483739" r:id="rId8"/>
    <p:sldLayoutId id="2147483743" r:id="rId9"/>
    <p:sldLayoutId id="2147483681" r:id="rId10"/>
    <p:sldLayoutId id="2147483722" r:id="rId11"/>
    <p:sldLayoutId id="2147483716" r:id="rId12"/>
    <p:sldLayoutId id="2147483762" r:id="rId13"/>
    <p:sldLayoutId id="2147483763" r:id="rId14"/>
    <p:sldLayoutId id="2147483769" r:id="rId15"/>
    <p:sldLayoutId id="2147483770" r:id="rId16"/>
    <p:sldLayoutId id="2147483777" r:id="rId17"/>
    <p:sldLayoutId id="2147483772" r:id="rId18"/>
    <p:sldLayoutId id="2147483761" r:id="rId19"/>
    <p:sldLayoutId id="2147483758" r:id="rId20"/>
    <p:sldLayoutId id="2147483744" r:id="rId21"/>
    <p:sldLayoutId id="2147483759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457200" rtl="0" eaLnBrk="1" latinLnBrk="0" hangingPunct="1">
        <a:lnSpc>
          <a:spcPct val="85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Barlow Medium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Tx/>
        <a:buNone/>
        <a:tabLst/>
        <a:defRPr lang="en-US" sz="18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2pPr>
      <a:lvl3pPr marL="867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3pPr>
      <a:lvl4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200" b="0" i="0" kern="120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4pPr>
      <a:lvl5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lang="en-US" sz="1400" b="0" i="0" kern="1200" cap="none" spc="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5pPr>
      <a:lvl6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 cap="none" spc="0" baseline="0">
          <a:solidFill>
            <a:schemeClr val="tx1"/>
          </a:solidFill>
          <a:latin typeface="Barlow" pitchFamily="2" charset="77"/>
          <a:ea typeface="+mn-ea"/>
          <a:cs typeface="+mn-cs"/>
        </a:defRPr>
      </a:lvl6pPr>
      <a:lvl7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7pPr>
      <a:lvl8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8pPr>
      <a:lvl9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6266" userDrawn="1">
          <p15:clr>
            <a:srgbClr val="F26B43"/>
          </p15:clr>
        </p15:guide>
        <p15:guide id="9" pos="7416" userDrawn="1">
          <p15:clr>
            <a:srgbClr val="F26B43"/>
          </p15:clr>
        </p15:guide>
        <p15:guide id="10" orient="horz" userDrawn="1">
          <p15:clr>
            <a:srgbClr val="F26B43"/>
          </p15:clr>
        </p15:guide>
        <p15:guide id="11" orient="horz" pos="4320" userDrawn="1">
          <p15:clr>
            <a:srgbClr val="F26B43"/>
          </p15:clr>
        </p15:guide>
        <p15:guide id="12" orient="horz" pos="624" userDrawn="1">
          <p15:clr>
            <a:srgbClr val="F26B43"/>
          </p15:clr>
        </p15:guide>
        <p15:guide id="20" orient="horz" pos="3920" userDrawn="1">
          <p15:clr>
            <a:srgbClr val="F26B43"/>
          </p15:clr>
        </p15:guide>
        <p15:guide id="22" pos="3962" userDrawn="1">
          <p15:clr>
            <a:srgbClr val="F26B43"/>
          </p15:clr>
        </p15:guide>
        <p15:guide id="23" pos="2570" userDrawn="1">
          <p15:clr>
            <a:srgbClr val="F26B43"/>
          </p15:clr>
        </p15:guide>
        <p15:guide id="24" pos="37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C289C3-0BF9-2EE6-719B-1F0FD605C8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Joshua Jose S. Endozo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AD068-32AB-A0BF-1341-A95ABFAF24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DevOps Engineer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9E0F9-B100-89AE-001A-B27E8B546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Grafana and Monitoring Stack Workshop</a:t>
            </a:r>
          </a:p>
        </p:txBody>
      </p:sp>
    </p:spTree>
    <p:extLst>
      <p:ext uri="{BB962C8B-B14F-4D97-AF65-F5344CB8AC3E}">
        <p14:creationId xmlns:p14="http://schemas.microsoft.com/office/powerpoint/2010/main" val="13548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6BAE-A65B-27C8-A58F-BD6C15C1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B4F3-AC7B-A515-32E8-A8106775C4D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 to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Standalone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Exploring Grafana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the Monitoring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the Complete Stack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5E8A0-80AF-4337-BC47-24DAD332E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94700-AC8D-C5F7-F43D-57EA1589A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9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0AC2-667A-8347-6E14-4DCCC71A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A5554F-BD50-0AA9-A3BD-DDB12F91DA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What is Grafana?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686C2-8047-2D87-43C9-00E7D23AA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D3773-4324-6026-7FD6-1A64FF8ED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5849A0-C2DA-51E0-B56E-7C06927EA40C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Open-Source Platform for monitoring and observability that allows you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Query</a:t>
            </a:r>
            <a:r>
              <a:rPr lang="en-US" dirty="0"/>
              <a:t> data from various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Visualize</a:t>
            </a:r>
            <a:r>
              <a:rPr lang="en-US" dirty="0"/>
              <a:t> metrics through customizable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Alert</a:t>
            </a:r>
            <a:r>
              <a:rPr lang="en-US" dirty="0"/>
              <a:t> on conditions that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Understand</a:t>
            </a:r>
            <a:r>
              <a:rPr lang="en-US" dirty="0"/>
              <a:t> your infrastructure at a glance</a:t>
            </a:r>
          </a:p>
        </p:txBody>
      </p:sp>
    </p:spTree>
    <p:extLst>
      <p:ext uri="{BB962C8B-B14F-4D97-AF65-F5344CB8AC3E}">
        <p14:creationId xmlns:p14="http://schemas.microsoft.com/office/powerpoint/2010/main" val="293384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6C5B-6BEC-2EC7-79A7-E7A61CC4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Why Grafana?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B382-BBAD-162A-2B1E-88E48A00DEA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1" y="1486904"/>
            <a:ext cx="11358000" cy="4675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Multi-source support</a:t>
            </a:r>
            <a:r>
              <a:rPr lang="en-US" dirty="0"/>
              <a:t>: Connect to Prometheus, </a:t>
            </a:r>
            <a:r>
              <a:rPr lang="en-US" dirty="0" err="1"/>
              <a:t>InfluxDB</a:t>
            </a:r>
            <a:r>
              <a:rPr lang="en-US" dirty="0"/>
              <a:t>, Elasticsearch, MySQL, and 100+ other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Beautiful dashboards</a:t>
            </a:r>
            <a:r>
              <a:rPr lang="en-US" dirty="0"/>
              <a:t>: Transform raw data into actionable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Community-driven</a:t>
            </a:r>
            <a:r>
              <a:rPr lang="en-US" dirty="0"/>
              <a:t>: 10,000+ pre-built dashboards ready to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Open source</a:t>
            </a:r>
            <a:r>
              <a:rPr lang="en-US" dirty="0"/>
              <a:t>: Free to use, extend, and customize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FF108-B3E4-F22F-69B9-27C8EBA21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C175-A7C5-C00D-417F-90872E314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4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B4C8-1DD1-D650-1C61-B42C2D48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5EBA-7B80-B2CC-A73D-97BF10783C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524000"/>
            <a:ext cx="11358000" cy="4923600"/>
          </a:xfrm>
        </p:spPr>
        <p:txBody>
          <a:bodyPr/>
          <a:lstStyle/>
          <a:p>
            <a:r>
              <a:rPr lang="en-US" b="1" dirty="0"/>
              <a:t>What We'll Do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Pull the Grafana Docker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Grafana as a single container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Access the web interface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Explore the basic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Clean up the container</a:t>
            </a:r>
          </a:p>
          <a:p>
            <a:endParaRPr lang="en-US" dirty="0"/>
          </a:p>
          <a:p>
            <a:r>
              <a:rPr lang="en-US" i="1" dirty="0"/>
              <a:t>Execute Part 1 of PARTICIPANT_GUIDE.md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C41AC-5489-BCFB-CDB0-A573C8564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14BF1-CCB5-9D71-6EF0-9457C2FFE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F9726E-3468-8BCE-1AA9-7D38AB64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Running Standalone Grafana</a:t>
            </a:r>
          </a:p>
        </p:txBody>
      </p:sp>
    </p:spTree>
    <p:extLst>
      <p:ext uri="{BB962C8B-B14F-4D97-AF65-F5344CB8AC3E}">
        <p14:creationId xmlns:p14="http://schemas.microsoft.com/office/powerpoint/2010/main" val="198960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5909-0240-019B-4C9A-391D5337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79AD8C-6B28-E199-D4F5-329E6B38942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Exploring Grafana Interface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86FD1-DB17-50DD-C71F-530C64590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4D01F-5E59-5248-3DE5-BEA8E3988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5ED7FC-A03C-901C-ED92-17C68E5EB377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b="1" dirty="0"/>
              <a:t>Access Grafana UI</a:t>
            </a:r>
            <a:r>
              <a:rPr lang="en-US" dirty="0"/>
              <a:t>: </a:t>
            </a:r>
            <a:r>
              <a:rPr lang="en-US" i="1" dirty="0"/>
              <a:t>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304376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1C0D-D114-0A9B-37EE-DEA19E67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F3F059-7112-0E4E-714E-BDD27AFFF7E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Understanding the Monitoring Stack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3AD87-FFB5-CD51-AA49-308C8E249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9D445-B498-F0D8-F0AA-78CEF8294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6159A2-8D27-DFBE-22F1-B6FD3056BF04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4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4DA0-EC70-17E5-E793-72728BC4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78C2F2-BD7F-31B8-E1F2-D6123B6500A0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1782967" y="1090080"/>
            <a:ext cx="8238716" cy="549247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73A1F-C715-BDC1-B33A-8F665D5D6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0F617-8AF2-4CE7-7AF4-BCDF9C1A5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3BBCC9-1145-62C7-D659-102561D5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Three-Layer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1D678-D9B7-E751-2E21-61F641D04687}"/>
              </a:ext>
            </a:extLst>
          </p:cNvPr>
          <p:cNvSpPr txBox="1"/>
          <p:nvPr/>
        </p:nvSpPr>
        <p:spPr>
          <a:xfrm>
            <a:off x="4945733" y="4571999"/>
            <a:ext cx="6829867" cy="1755988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0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FF64-E879-3940-FC2A-33585F76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89AE4-DB1D-F776-4140-698B156BBB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524000"/>
            <a:ext cx="11358000" cy="4923600"/>
          </a:xfrm>
        </p:spPr>
        <p:txBody>
          <a:bodyPr/>
          <a:lstStyle/>
          <a:p>
            <a:r>
              <a:rPr lang="en-PH" dirty="0"/>
              <a:t>1. </a:t>
            </a:r>
            <a:r>
              <a:rPr lang="en-PH" b="1" dirty="0"/>
              <a:t>Collection</a:t>
            </a:r>
            <a:r>
              <a:rPr lang="en-PH" dirty="0"/>
              <a:t>: </a:t>
            </a:r>
            <a:r>
              <a:rPr lang="en-PH" i="1" dirty="0"/>
              <a:t>Node Exporter </a:t>
            </a:r>
            <a:r>
              <a:rPr lang="en-PH" dirty="0"/>
              <a:t>reads system statistics from `/proc`, `/sys`, etc.</a:t>
            </a:r>
          </a:p>
          <a:p>
            <a:r>
              <a:rPr lang="en-PH" dirty="0"/>
              <a:t>2. </a:t>
            </a:r>
            <a:r>
              <a:rPr lang="en-PH" b="1" dirty="0"/>
              <a:t>Exposure</a:t>
            </a:r>
            <a:r>
              <a:rPr lang="en-PH" dirty="0"/>
              <a:t>:</a:t>
            </a:r>
            <a:r>
              <a:rPr lang="en-PH" b="1" dirty="0"/>
              <a:t> </a:t>
            </a:r>
            <a:r>
              <a:rPr lang="en-PH" dirty="0"/>
              <a:t>Metrics exposed in Prometheus format at `http://node-exporter:9100/metrics`</a:t>
            </a:r>
          </a:p>
          <a:p>
            <a:r>
              <a:rPr lang="en-PH" dirty="0"/>
              <a:t>3. </a:t>
            </a:r>
            <a:r>
              <a:rPr lang="en-PH" b="1" dirty="0"/>
              <a:t>Scraping</a:t>
            </a:r>
            <a:r>
              <a:rPr lang="en-PH" dirty="0"/>
              <a:t>:</a:t>
            </a:r>
            <a:r>
              <a:rPr lang="en-PH" b="1" dirty="0"/>
              <a:t> </a:t>
            </a:r>
            <a:r>
              <a:rPr lang="en-PH" i="1" dirty="0"/>
              <a:t>Prometheus</a:t>
            </a:r>
            <a:r>
              <a:rPr lang="en-PH" dirty="0"/>
              <a:t> pulls metrics every 15 seconds and stores them</a:t>
            </a:r>
          </a:p>
          <a:p>
            <a:r>
              <a:rPr lang="en-PH" dirty="0"/>
              <a:t>4. </a:t>
            </a:r>
            <a:r>
              <a:rPr lang="en-PH" b="1" dirty="0"/>
              <a:t>Querying</a:t>
            </a:r>
            <a:r>
              <a:rPr lang="en-PH" dirty="0"/>
              <a:t>: </a:t>
            </a:r>
            <a:r>
              <a:rPr lang="en-PH" i="1" dirty="0"/>
              <a:t>Grafana</a:t>
            </a:r>
            <a:r>
              <a:rPr lang="en-PH" dirty="0"/>
              <a:t> sends </a:t>
            </a:r>
            <a:r>
              <a:rPr lang="en-PH" dirty="0" err="1"/>
              <a:t>PromQL</a:t>
            </a:r>
            <a:r>
              <a:rPr lang="en-PH" dirty="0"/>
              <a:t> queries to Prometheus</a:t>
            </a:r>
          </a:p>
          <a:p>
            <a:r>
              <a:rPr lang="en-PH" dirty="0"/>
              <a:t>5. </a:t>
            </a:r>
            <a:r>
              <a:rPr lang="en-PH" b="1" dirty="0"/>
              <a:t>Visualization</a:t>
            </a:r>
            <a:r>
              <a:rPr lang="en-PH" dirty="0"/>
              <a:t>: </a:t>
            </a:r>
            <a:r>
              <a:rPr lang="en-PH" i="1" dirty="0"/>
              <a:t>Grafana</a:t>
            </a:r>
            <a:r>
              <a:rPr lang="en-PH" dirty="0"/>
              <a:t> transforms query results into graphs and dashboards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954A8-9E3D-3AB0-96D1-D101345DB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FE331-9B77-BC21-2C5E-71D170571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FD11FA-8846-CA99-CF88-F1F7ED9B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The Data </a:t>
            </a:r>
            <a:r>
              <a:rPr lang="en-PH" b="1" dirty="0" err="1"/>
              <a:t>FLow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409084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A4FC-37C1-9E62-11CD-4DCB991B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254E-5E39-7B99-32B3-D673A01C75C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524000"/>
            <a:ext cx="11358000" cy="4923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Separation of Concerns</a:t>
            </a:r>
            <a:r>
              <a:rPr lang="en-US" dirty="0"/>
              <a:t>: Each component does one thing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Can add more exporters without changing Prometheus or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: Swap components (e.g., replace Grafana with other tools)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Industry Standard</a:t>
            </a:r>
            <a:r>
              <a:rPr lang="en-US" dirty="0"/>
              <a:t>: Used by companies from startups to enterprises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BBF38-0577-2369-4894-447DFB26A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0F91F-B16F-4C2A-40EA-DDECBBAEC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5C3F97-62B4-13D9-F849-3E5A732F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Why This Architecture?</a:t>
            </a:r>
          </a:p>
        </p:txBody>
      </p:sp>
    </p:spTree>
    <p:extLst>
      <p:ext uri="{BB962C8B-B14F-4D97-AF65-F5344CB8AC3E}">
        <p14:creationId xmlns:p14="http://schemas.microsoft.com/office/powerpoint/2010/main" val="314793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3EE4-D51C-7841-D9DE-9512C4A1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CE4C87-CD3B-8E1D-AAE1-26543F7A4E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Running the Complete Stack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4F5DD-3AAE-F545-72CA-3467E1A4C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CB369-079F-E4DB-0047-28E18FA21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8278FB-A92F-040A-B38E-7F1C67DF6602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i="1" dirty="0"/>
              <a:t>Part 2 of PARTICIPANT_GUIDE.md</a:t>
            </a:r>
          </a:p>
        </p:txBody>
      </p:sp>
    </p:spTree>
    <p:extLst>
      <p:ext uri="{BB962C8B-B14F-4D97-AF65-F5344CB8AC3E}">
        <p14:creationId xmlns:p14="http://schemas.microsoft.com/office/powerpoint/2010/main" val="325920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35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DI-Brand-PowerPoint-Template-Standard">
  <a:themeElements>
    <a:clrScheme name="ADI Colors 2">
      <a:dk1>
        <a:srgbClr val="000000"/>
      </a:dk1>
      <a:lt1>
        <a:srgbClr val="FFFFFF"/>
      </a:lt1>
      <a:dk2>
        <a:srgbClr val="0067B9"/>
      </a:dk2>
      <a:lt2>
        <a:srgbClr val="9EA1AE"/>
      </a:lt2>
      <a:accent1>
        <a:srgbClr val="00325C"/>
      </a:accent1>
      <a:accent2>
        <a:srgbClr val="1B9CD0"/>
      </a:accent2>
      <a:accent3>
        <a:srgbClr val="8637BA"/>
      </a:accent3>
      <a:accent4>
        <a:srgbClr val="179963"/>
      </a:accent4>
      <a:accent5>
        <a:srgbClr val="FED141"/>
      </a:accent5>
      <a:accent6>
        <a:srgbClr val="C81A28"/>
      </a:accent6>
      <a:hlink>
        <a:srgbClr val="0067B9"/>
      </a:hlink>
      <a:folHlink>
        <a:srgbClr val="3C4157"/>
      </a:folHlink>
    </a:clrScheme>
    <a:fontScheme name="Custom 3">
      <a:majorFont>
        <a:latin typeface="Barlow Medium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  <a:miter lim="800000"/>
        </a:ln>
        <a:effectLst/>
      </a:spPr>
      <a:bodyPr rtlCol="0" anchor="ctr"/>
      <a:lstStyle>
        <a:defPPr algn="l" defTabSz="457200">
          <a:spcBef>
            <a:spcPts val="600"/>
          </a:spcBef>
          <a:spcAft>
            <a:spcPts val="800"/>
          </a:spcAft>
          <a:buClr>
            <a:schemeClr val="accent1"/>
          </a:buClr>
          <a:buSzPct val="70000"/>
          <a:defRPr dirty="0" err="1">
            <a:solidFill>
              <a:srgbClr val="000000"/>
            </a:solidFill>
            <a:latin typeface="Barlow" pitchFamily="2" charset="77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C15EF269-06AB-664A-83BE-7A84C599A54B}" vid="{AF14B91D-4CB6-8D48-B325-6AD42E4DEF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2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3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4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42d541-bde2-496f-b98d-1eb5cfe33e34" xsi:nil="true"/>
    <lcf76f155ced4ddcb4097134ff3c332f xmlns="94b72ae9-bf22-4152-8388-3de8faa2520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EC1CFF4750D848B193E453B794BCA3" ma:contentTypeVersion="12" ma:contentTypeDescription="Create a new document." ma:contentTypeScope="" ma:versionID="96d55d9bdc7a1d17fdc0c496d1cdcea8">
  <xsd:schema xmlns:xsd="http://www.w3.org/2001/XMLSchema" xmlns:xs="http://www.w3.org/2001/XMLSchema" xmlns:p="http://schemas.microsoft.com/office/2006/metadata/properties" xmlns:ns2="94b72ae9-bf22-4152-8388-3de8faa2520d" xmlns:ns3="3542d541-bde2-496f-b98d-1eb5cfe33e34" targetNamespace="http://schemas.microsoft.com/office/2006/metadata/properties" ma:root="true" ma:fieldsID="bb4e89cf180b8c117f30243b72898b2f" ns2:_="" ns3:_="">
    <xsd:import namespace="94b72ae9-bf22-4152-8388-3de8faa2520d"/>
    <xsd:import namespace="3542d541-bde2-496f-b98d-1eb5cfe33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72ae9-bf22-4152-8388-3de8faa252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45de00c-9d84-443a-8c85-ac82572830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2d541-bde2-496f-b98d-1eb5cfe33e3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fea23f4-d62d-4008-8a8e-f52e38a3a619}" ma:internalName="TaxCatchAll" ma:showField="CatchAllData" ma:web="3542d541-bde2-496f-b98d-1eb5cfe33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D62161-A54D-49BC-81E1-9C693C4A59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4B9140-26E6-4E72-9154-F59756961C05}">
  <ds:schemaRefs>
    <ds:schemaRef ds:uri="http://schemas.microsoft.com/office/2006/metadata/properties"/>
    <ds:schemaRef ds:uri="http://schemas.microsoft.com/office/infopath/2007/PartnerControls"/>
    <ds:schemaRef ds:uri="cf6b8ade-fe7a-4cef-8baf-a5f3f527de75"/>
    <ds:schemaRef ds:uri="3542d541-bde2-496f-b98d-1eb5cfe33e34"/>
    <ds:schemaRef ds:uri="94b72ae9-bf22-4152-8388-3de8faa2520d"/>
  </ds:schemaRefs>
</ds:datastoreItem>
</file>

<file path=customXml/itemProps3.xml><?xml version="1.0" encoding="utf-8"?>
<ds:datastoreItem xmlns:ds="http://schemas.openxmlformats.org/officeDocument/2006/customXml" ds:itemID="{586E0051-3107-4761-BBA9-0B864E525D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b72ae9-bf22-4152-8388-3de8faa2520d"/>
    <ds:schemaRef ds:uri="3542d541-bde2-496f-b98d-1eb5cfe33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2978</TotalTime>
  <Words>437</Words>
  <Application>Microsoft Office PowerPoint</Application>
  <PresentationFormat>Widescreen</PresentationFormat>
  <Paragraphs>70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Barlow SemiBold</vt:lpstr>
      <vt:lpstr>Arial</vt:lpstr>
      <vt:lpstr>Barlow</vt:lpstr>
      <vt:lpstr>Barlow Medium</vt:lpstr>
      <vt:lpstr>Wingdings</vt:lpstr>
      <vt:lpstr>Wingdings 3</vt:lpstr>
      <vt:lpstr>Calibri</vt:lpstr>
      <vt:lpstr>ADI-Brand-PowerPoint-Template-Standard</vt:lpstr>
      <vt:lpstr>PowerPoint Presentation</vt:lpstr>
      <vt:lpstr>Table of Contents</vt:lpstr>
      <vt:lpstr>PowerPoint Presentation</vt:lpstr>
      <vt:lpstr>Why Grafana?</vt:lpstr>
      <vt:lpstr>Running Standalone Grafana</vt:lpstr>
      <vt:lpstr>PowerPoint Presentation</vt:lpstr>
      <vt:lpstr>PowerPoint Presentation</vt:lpstr>
      <vt:lpstr>The Three-Layer Architecture</vt:lpstr>
      <vt:lpstr>The Data FLow</vt:lpstr>
      <vt:lpstr>Why This Architecture?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Endozo, Joshua jose</dc:creator>
  <cp:keywords/>
  <dc:description>2024 Version 1
© 2024 Analog Devices, Inc. All Rights Reserved</dc:description>
  <cp:lastModifiedBy>Endozo, Joshua jose</cp:lastModifiedBy>
  <cp:revision>5</cp:revision>
  <cp:lastPrinted>2015-04-02T14:52:35Z</cp:lastPrinted>
  <dcterms:created xsi:type="dcterms:W3CDTF">2025-12-02T07:39:41Z</dcterms:created>
  <dcterms:modified xsi:type="dcterms:W3CDTF">2026-05-06T06:56:53Z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0x010100DAEC1CFF4750D848B193E453B794BCA3</vt:lpwstr>
  </property>
</Properties>
</file>